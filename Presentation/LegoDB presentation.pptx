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Amasis MT Pro Black" panose="02040A04050005020304" pitchFamily="18" charset="0"/>
      <p:bold r:id="rId9"/>
    </p:embeddedFont>
    <p:embeddedFont>
      <p:font typeface="LEGO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4F83EE-406D-46CB-94A6-70869000BA03}">
          <p14:sldIdLst>
            <p14:sldId id="261"/>
          </p14:sldIdLst>
        </p14:section>
        <p14:section name="Section 1" id="{10DA336B-44BE-4E37-AC02-D6C166049BF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2F"/>
    <a:srgbClr val="EEC600"/>
    <a:srgbClr val="F2CA00"/>
    <a:srgbClr val="FFF0A7"/>
    <a:srgbClr val="FFEA81"/>
    <a:srgbClr val="FFFAE1"/>
    <a:srgbClr val="FED400"/>
    <a:srgbClr val="FFDC38"/>
    <a:srgbClr val="FFD700"/>
    <a:srgbClr val="F5C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A6F24-B76D-43DA-9763-637412A699C3}" v="395" dt="2026-04-20T23:17:4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660"/>
  </p:normalViewPr>
  <p:slideViewPr>
    <p:cSldViewPr snapToGrid="0">
      <p:cViewPr>
        <p:scale>
          <a:sx n="100" d="100"/>
          <a:sy n="100" d="100"/>
        </p:scale>
        <p:origin x="29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AB900-F969-4863-ACF3-A8BF4A1D2A3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6F792-83F9-456A-AACE-43752DA8D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5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6F792-83F9-456A-AACE-43752DA8DD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0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 – information about each LEGO 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themes – categories/themes of LEGO sets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inventories – links sets to their inventories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inventory_parts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contains part, color, and quantity data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parts – details about individual LEGO parts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colors – color information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part_categories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classification of parts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6F792-83F9-456A-AACE-43752DA8DD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86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6BE3-092D-888F-CA5B-BD96F32AB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58F28-E1CD-7C97-DAFF-CE64E1266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F39F-B18B-CCCF-DBF3-C416491A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0A41D-CDDD-8FD2-6488-4A99C155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CD05-C931-88E2-CAFA-00B1CCC2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3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0CCE-676D-63A6-5E18-9A115B75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A062E-4E1C-5016-E473-B5A1C1F4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6BDA5-CFDD-7FD1-D8B8-E35DF6B0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081E-A595-906E-B30C-7AA0266C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802B3-01DD-3BE6-0DD4-ABCF242C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33CA-A2EA-514B-1929-8E7A5F68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9C511-C7A4-9D15-6B8D-6908344E0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FDD1E-0372-E645-A766-6EE8282D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1049-8C60-D7BF-9753-D3A9168D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BE4F-F0E7-A266-181F-76029C09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8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A8A8-5C20-C004-CE10-331EF24A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A1F9-993C-AD4F-52DD-898A98C72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B8521-91FC-066A-A1E9-C3F05BE69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CF5A5-B8E1-4925-B5CB-2A9B7131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C9AC-D9EF-FAD7-B3ED-E154E0BA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49086-EF36-67C5-A69B-89A3A33E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4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4E8F-E7BF-0703-E556-58401FD6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76452-CBC6-26C6-3F83-724A1698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FE25F-BAEB-486B-8BAA-5E689C7D0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3C578-FEB3-BBA2-F333-759558006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AD17D-680E-27CF-67EF-8591C06F8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E297D-3EEA-0810-80CE-A350C8E8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B3881-B730-25FD-2124-84ED8B3B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87397-3070-ECE7-B212-A55ECA43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632-74D1-24FE-1BF8-E2CEFCF6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65471-E7F5-748E-EC2A-9A5BCB53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B515F-30FE-0839-F90E-3DC00B1E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F984D-9706-6C64-DABB-064A1889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2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212BC-9889-B485-00EB-97595307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6B48F-7A6A-170F-3571-BF16DD74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BBD83-6989-21C5-17CC-47AC89D9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7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FACA-61B3-7F6D-995A-F2B059A3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7DB0-2389-EBD0-A2DB-E60B5B9A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AD365-954D-FBF3-EEEB-479AF708A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5C283-FC6D-EE6C-4642-6AD579F5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FDA85-798D-8B08-F8A2-6A45168E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65E60-5E55-C39F-6572-F1CCA066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0A31-9163-8402-1460-D5E5248E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AC28D-E0D3-B13A-EFE1-E1329B064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7B160-660B-C2F8-DFC7-690E683E6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9C5AD-EF8A-EE15-CF17-F43AC91C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DD31D-A3FB-CC68-18B3-4404088D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65EBD-E382-47A5-99B2-92402EFC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6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64DB-4E6F-6BE4-A496-03D45919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D87F2-8815-BA40-B7E6-8469F2AEF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D8D26-C493-B823-3F66-7B75DDB1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2819-CB81-84BB-08B3-8DDB922A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85A7-4E11-D8AE-9E06-53AD202F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8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A9B4F-4FDE-8EAA-D696-C4F04E34C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8C84A-DD73-3BC0-4FA3-777D0F043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5E7A-4361-63E6-1986-BC166A8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5C0E4-F2E8-334E-90F5-4583BCC3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45102-BF4A-2D04-8111-02E237E6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1F680-79AE-6C33-FCAC-171A7297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87C8-ADE6-A776-1B6A-8013412DE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5924-A48C-0741-F230-AA5D866E6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3A0A6-C672-40B9-8CF7-020CA63233D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562B-C598-4EE0-E00D-57C4F6AE5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9715C-1E69-0BE8-7029-F4EE0C2D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D6B82-0923-4136-93D9-B28363900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1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.png"/><Relationship Id="rId18" Type="http://schemas.microsoft.com/office/2007/relationships/hdphoto" Target="../media/hdphoto5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2.wdp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microsoft.com/office/2007/relationships/hdphoto" Target="../media/hdphoto4.wdp"/><Relationship Id="rId20" Type="http://schemas.microsoft.com/office/2007/relationships/hdphoto" Target="../media/hdphoto6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https://chatgpt.com/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github.com/katisern/lego-database-analysis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kaggle.com/datasets/rtatman/lego-database?select=downloads_schema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59BD34-A8C0-53D7-38FB-A8D9D90929A9}"/>
              </a:ext>
            </a:extLst>
          </p:cNvPr>
          <p:cNvSpPr/>
          <p:nvPr/>
        </p:nvSpPr>
        <p:spPr>
          <a:xfrm>
            <a:off x="685800" y="236062"/>
            <a:ext cx="11241336" cy="6118217"/>
          </a:xfrm>
          <a:prstGeom prst="rect">
            <a:avLst/>
          </a:prstGeom>
          <a:solidFill>
            <a:srgbClr val="EEC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C639BA-5FAC-BD5A-1D89-019AE115365F}"/>
              </a:ext>
            </a:extLst>
          </p:cNvPr>
          <p:cNvSpPr/>
          <p:nvPr/>
        </p:nvSpPr>
        <p:spPr>
          <a:xfrm>
            <a:off x="859971" y="510726"/>
            <a:ext cx="10646229" cy="5708452"/>
          </a:xfrm>
          <a:prstGeom prst="rect">
            <a:avLst/>
          </a:prstGeom>
          <a:solidFill>
            <a:srgbClr val="F2C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9D53D-531E-9EC3-50EC-CC2622102AE2}"/>
              </a:ext>
            </a:extLst>
          </p:cNvPr>
          <p:cNvSpPr/>
          <p:nvPr/>
        </p:nvSpPr>
        <p:spPr>
          <a:xfrm>
            <a:off x="1232141" y="953860"/>
            <a:ext cx="9727715" cy="4950280"/>
          </a:xfrm>
          <a:prstGeom prst="rect">
            <a:avLst/>
          </a:prstGeom>
          <a:solidFill>
            <a:srgbClr val="FFD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65847C1-6392-1D7D-5603-36FC54A5E3C2}"/>
              </a:ext>
            </a:extLst>
          </p:cNvPr>
          <p:cNvSpPr/>
          <p:nvPr/>
        </p:nvSpPr>
        <p:spPr>
          <a:xfrm>
            <a:off x="5789539" y="236062"/>
            <a:ext cx="4917889" cy="1656425"/>
          </a:xfrm>
          <a:prstGeom prst="rightArrow">
            <a:avLst/>
          </a:prstGeom>
          <a:solidFill>
            <a:srgbClr val="EEC6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98FEF8B-A96E-5A1F-669A-19AA1A19A897}"/>
              </a:ext>
            </a:extLst>
          </p:cNvPr>
          <p:cNvSpPr/>
          <p:nvPr/>
        </p:nvSpPr>
        <p:spPr>
          <a:xfrm flipH="1">
            <a:off x="1027555" y="4783254"/>
            <a:ext cx="5311863" cy="1940185"/>
          </a:xfrm>
          <a:prstGeom prst="rightArrow">
            <a:avLst/>
          </a:prstGeom>
          <a:solidFill>
            <a:srgbClr val="EEC6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270B38-FBB2-7AEE-1FFF-FFEE3A901FAF}"/>
              </a:ext>
            </a:extLst>
          </p:cNvPr>
          <p:cNvSpPr/>
          <p:nvPr/>
        </p:nvSpPr>
        <p:spPr>
          <a:xfrm rot="16200000">
            <a:off x="1165007" y="1229056"/>
            <a:ext cx="3980720" cy="1705287"/>
          </a:xfrm>
          <a:prstGeom prst="rightArrow">
            <a:avLst/>
          </a:prstGeom>
          <a:solidFill>
            <a:srgbClr val="FFEA81"/>
          </a:solidFill>
          <a:ln>
            <a:solidFill>
              <a:srgbClr val="FFDC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C6456D6-D665-9678-0765-E31D684FDC47}"/>
              </a:ext>
            </a:extLst>
          </p:cNvPr>
          <p:cNvSpPr/>
          <p:nvPr/>
        </p:nvSpPr>
        <p:spPr>
          <a:xfrm rot="5400000">
            <a:off x="6732144" y="3450988"/>
            <a:ext cx="4362450" cy="1814764"/>
          </a:xfrm>
          <a:prstGeom prst="rightArrow">
            <a:avLst/>
          </a:prstGeom>
          <a:solidFill>
            <a:srgbClr val="FFEA81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2D0C3233-B2FC-C970-31A3-922855FAC2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0095634"/>
                  </p:ext>
                </p:extLst>
              </p:nvPr>
            </p:nvGraphicFramePr>
            <p:xfrm>
              <a:off x="4545093" y="1814047"/>
              <a:ext cx="3101809" cy="3101809"/>
            </p:xfrm>
            <a:graphic>
              <a:graphicData uri="http://schemas.microsoft.com/office/powerpoint/2016/slidezoom">
                <pslz:sldZm>
                  <pslz:sldZmObj sldId="256" cId="369412282">
                    <pslz:zmPr id="{7B56F47E-6A6A-43CA-89DE-37A184CAF4E7}" returnToParent="0" imageType="cover" transitionDur="1000">
                      <p166:blipFill xmlns:p166="http://schemas.microsoft.com/office/powerpoint/2016/6/main"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01809" cy="31018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extLst>
                  <a:ext uri="{FF2B5EF4-FFF2-40B4-BE49-F238E27FC236}">
                    <a16:creationId xmlns:a16="http://schemas.microsoft.com/office/drawing/2014/main" id="{2D0C3233-B2FC-C970-31A3-922855FAC2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45093" y="1814047"/>
                <a:ext cx="3101809" cy="31018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115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2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4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0800000">
                                      <p:cBhvr>
                                        <p:cTn id="26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16" grpId="0" animBg="1"/>
      <p:bldP spid="6" grpId="0" animBg="1"/>
      <p:bldP spid="7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228C83-92CC-526D-C632-6936A18AF263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EF552-E5B1-5B51-1C16-87CBF0635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40900">
            <a:off x="1462525" y="589157"/>
            <a:ext cx="2142216" cy="21422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9647E-EB65-57DE-FF7A-3A5F32F55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70" y="2958192"/>
            <a:ext cx="1100590" cy="941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33B5B5-AE92-01CD-4DFD-201524936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591" y="2444297"/>
            <a:ext cx="1585766" cy="1585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22AA3B-0ED0-CE62-12E5-93CF90093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31248" flipH="1">
            <a:off x="3487211" y="950052"/>
            <a:ext cx="2133543" cy="14294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20A52F-D630-0A20-DB71-FB014136E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93" y="3542860"/>
            <a:ext cx="2138860" cy="2138860"/>
          </a:xfrm>
          <a:prstGeom prst="rect">
            <a:avLst/>
          </a:prstGeom>
        </p:spPr>
      </p:pic>
      <p:pic>
        <p:nvPicPr>
          <p:cNvPr id="22" name="Content Placeholder 16">
            <a:extLst>
              <a:ext uri="{FF2B5EF4-FFF2-40B4-BE49-F238E27FC236}">
                <a16:creationId xmlns:a16="http://schemas.microsoft.com/office/drawing/2014/main" id="{C9928460-78DB-5422-7087-0C25F1E78D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-47471" y="1200919"/>
            <a:ext cx="1593498" cy="1593498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151DA35-BA23-076B-09B0-3549E13FA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232" y="5697770"/>
            <a:ext cx="979697" cy="97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D Lego Logo Transparent Background | Citypng">
            <a:extLst>
              <a:ext uri="{FF2B5EF4-FFF2-40B4-BE49-F238E27FC236}">
                <a16:creationId xmlns:a16="http://schemas.microsoft.com/office/drawing/2014/main" id="{02A19655-F36C-5FA9-4CD5-1F48A2E7F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7625" r="91750">
                        <a14:foregroundMark x1="75375" y1="54000" x2="77875" y2="46000"/>
                        <a14:foregroundMark x1="9625" y1="65750" x2="10375" y2="57875"/>
                        <a14:foregroundMark x1="7625" y1="64125" x2="8000" y2="58625"/>
                        <a14:foregroundMark x1="89000" y1="55125" x2="91750" y2="43875"/>
                        <a14:foregroundMark x1="15000" y1="57750" x2="21625" y2="41375"/>
                        <a14:foregroundMark x1="13750" y1="63875" x2="20875" y2="63875"/>
                        <a14:foregroundMark x1="13750" y1="65000" x2="19125" y2="42375"/>
                        <a14:foregroundMark x1="19125" y1="42375" x2="20875" y2="40000"/>
                        <a14:foregroundMark x1="24625" y1="39750" x2="17250" y2="55125"/>
                        <a14:foregroundMark x1="21375" y1="40500" x2="26000" y2="38625"/>
                        <a14:foregroundMark x1="18125" y1="61375" x2="17250" y2="59125"/>
                        <a14:foregroundMark x1="20000" y1="40750" x2="25500" y2="37500"/>
                        <a14:foregroundMark x1="21375" y1="60250" x2="21375" y2="63625"/>
                        <a14:foregroundMark x1="20750" y1="59125" x2="22250" y2="61625"/>
                        <a14:foregroundMark x1="28500" y1="58625" x2="30750" y2="44125"/>
                        <a14:foregroundMark x1="30750" y1="44125" x2="41875" y2="39250"/>
                        <a14:foregroundMark x1="41875" y1="39250" x2="43000" y2="39250"/>
                        <a14:foregroundMark x1="33125" y1="42750" x2="44875" y2="39875"/>
                        <a14:foregroundMark x1="44875" y1="39875" x2="34750" y2="43125"/>
                        <a14:foregroundMark x1="34750" y1="43125" x2="31750" y2="54125"/>
                        <a14:foregroundMark x1="31750" y1="54125" x2="34125" y2="64000"/>
                        <a14:foregroundMark x1="34125" y1="64000" x2="29250" y2="61125"/>
                        <a14:foregroundMark x1="34750" y1="65250" x2="34750" y2="59125"/>
                        <a14:foregroundMark x1="38125" y1="62125" x2="34250" y2="57875"/>
                        <a14:foregroundMark x1="39500" y1="62125" x2="34000" y2="58375"/>
                        <a14:foregroundMark x1="33750" y1="52625" x2="35125" y2="47875"/>
                        <a14:foregroundMark x1="35375" y1="48250" x2="35875" y2="52375"/>
                        <a14:foregroundMark x1="36375" y1="47375" x2="35625" y2="52875"/>
                        <a14:foregroundMark x1="40750" y1="48750" x2="34250" y2="47625"/>
                        <a14:foregroundMark x1="44875" y1="41875" x2="35375" y2="39250"/>
                        <a14:foregroundMark x1="35125" y1="39125" x2="46250" y2="37375"/>
                        <a14:foregroundMark x1="46250" y1="37375" x2="45250" y2="40875"/>
                        <a14:foregroundMark x1="59500" y1="42500" x2="48625" y2="41000"/>
                        <a14:foregroundMark x1="48625" y1="41000" x2="44875" y2="52750"/>
                        <a14:foregroundMark x1="44875" y1="52750" x2="46375" y2="63250"/>
                        <a14:foregroundMark x1="46375" y1="63250" x2="57000" y2="65750"/>
                        <a14:foregroundMark x1="57000" y1="65750" x2="64125" y2="57750"/>
                        <a14:foregroundMark x1="64125" y1="57750" x2="56500" y2="49000"/>
                        <a14:foregroundMark x1="56500" y1="49000" x2="51125" y2="57750"/>
                        <a14:foregroundMark x1="51125" y1="57750" x2="55750" y2="47000"/>
                        <a14:foregroundMark x1="55750" y1="47000" x2="59125" y2="43500"/>
                        <a14:foregroundMark x1="50625" y1="60250" x2="60375" y2="56500"/>
                        <a14:foregroundMark x1="60375" y1="56500" x2="55875" y2="57875"/>
                        <a14:foregroundMark x1="48500" y1="57750" x2="49000" y2="46250"/>
                        <a14:foregroundMark x1="49000" y1="46250" x2="47875" y2="57500"/>
                        <a14:foregroundMark x1="49625" y1="41625" x2="61625" y2="38375"/>
                        <a14:foregroundMark x1="61625" y1="38375" x2="51000" y2="42125"/>
                        <a14:foregroundMark x1="54250" y1="39125" x2="64625" y2="38375"/>
                        <a14:foregroundMark x1="64625" y1="38375" x2="62125" y2="41125"/>
                        <a14:foregroundMark x1="64875" y1="38125" x2="64875" y2="40750"/>
                        <a14:foregroundMark x1="66250" y1="40750" x2="66000" y2="41625"/>
                        <a14:foregroundMark x1="68000" y1="40500" x2="67625" y2="42250"/>
                        <a14:foregroundMark x1="66375" y1="43250" x2="60750" y2="44125"/>
                        <a14:foregroundMark x1="59500" y1="49375" x2="62750" y2="50375"/>
                        <a14:foregroundMark x1="73375" y1="41375" x2="66750" y2="51625"/>
                        <a14:foregroundMark x1="66750" y1="51625" x2="65000" y2="58125"/>
                        <a14:foregroundMark x1="76375" y1="43250" x2="68375" y2="53625"/>
                        <a14:foregroundMark x1="68375" y1="53625" x2="67375" y2="57500"/>
                        <a14:foregroundMark x1="74750" y1="41125" x2="84125" y2="41375"/>
                        <a14:foregroundMark x1="74500" y1="40500" x2="85000" y2="39500"/>
                        <a14:foregroundMark x1="85000" y1="39500" x2="85750" y2="40500"/>
                        <a14:foregroundMark x1="72625" y1="40250" x2="84125" y2="37000"/>
                        <a14:foregroundMark x1="84125" y1="37000" x2="86000" y2="39500"/>
                        <a14:foregroundMark x1="86250" y1="40750" x2="83125" y2="53500"/>
                        <a14:foregroundMark x1="83125" y1="53500" x2="80250" y2="57250"/>
                        <a14:foregroundMark x1="82500" y1="44625" x2="77875" y2="59750"/>
                        <a14:foregroundMark x1="84875" y1="49875" x2="84875" y2="49875"/>
                        <a14:foregroundMark x1="72875" y1="52000" x2="77875" y2="58375"/>
                        <a14:foregroundMark x1="72625" y1="54250" x2="76125" y2="60750"/>
                        <a14:foregroundMark x1="69875" y1="58375" x2="76500" y2="63875"/>
                        <a14:foregroundMark x1="66875" y1="60250" x2="75125" y2="6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05" y="1465047"/>
            <a:ext cx="3506736" cy="35067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98ADE4-BA69-1AA8-9C73-82D180A5A7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518926" y="4198443"/>
            <a:ext cx="2056504" cy="20565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07D1439-547C-6940-7FEB-D57F9A2AE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40900">
            <a:off x="1503221" y="589157"/>
            <a:ext cx="2142216" cy="21422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D4B06A7-A563-9BA2-5AC2-882472A26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6" y="2958192"/>
            <a:ext cx="1100590" cy="9416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157CC6-0A43-1115-3D81-355201633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87" y="2444297"/>
            <a:ext cx="1585766" cy="158576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B0FC50F-FE50-2C93-3D46-71E75348A1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31248" flipH="1">
            <a:off x="3527907" y="950052"/>
            <a:ext cx="2133543" cy="1429474"/>
          </a:xfrm>
          <a:prstGeom prst="rect">
            <a:avLst/>
          </a:prstGeom>
        </p:spPr>
      </p:pic>
      <p:pic>
        <p:nvPicPr>
          <p:cNvPr id="39" name="Content Placeholder 16">
            <a:extLst>
              <a:ext uri="{FF2B5EF4-FFF2-40B4-BE49-F238E27FC236}">
                <a16:creationId xmlns:a16="http://schemas.microsoft.com/office/drawing/2014/main" id="{18D4367D-AF39-3C29-246B-66456A81D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-6775" y="1200919"/>
            <a:ext cx="1593498" cy="159349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EA969D-53ED-E9EB-D3CD-E695B36EAC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559622" y="4198443"/>
            <a:ext cx="2056504" cy="205650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C824770-509C-56F2-314C-94D55E47A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31" y="2958192"/>
            <a:ext cx="1100590" cy="9416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C7CBAE-F231-2B4C-CD53-9FA4D7817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52" y="2444297"/>
            <a:ext cx="1585766" cy="15857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BBA168E-9E85-419E-E700-F2A3535DD6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607587" y="4198443"/>
            <a:ext cx="2056504" cy="2056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3A29E1-9D6A-904C-7D72-101CCAA1E8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185" y="-1"/>
            <a:ext cx="3861816" cy="2032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41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AF8295-E1E1-27E3-E21E-6B284C0D7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1925" flipH="1">
            <a:off x="7164301" y="-771541"/>
            <a:ext cx="3195231" cy="3195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E7A98A-8D9E-66A0-695B-CFEF91E8A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01986">
            <a:off x="2375291" y="642834"/>
            <a:ext cx="2527842" cy="2527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ADD5C-2096-1256-42E1-6C7BDA5B3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95452">
            <a:off x="4278153" y="925241"/>
            <a:ext cx="2315821" cy="155159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1AF5F4-5599-3346-2BDF-FD6B29F0E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4821" y="2854576"/>
            <a:ext cx="6854830" cy="3849623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" panose="02000600000000000000" pitchFamily="2" charset="0"/>
              </a:rPr>
              <a:t>LEGO is a popular brand of toy building bricks. </a:t>
            </a:r>
          </a:p>
          <a:p>
            <a:pPr lvl="1"/>
            <a:r>
              <a:rPr lang="en-US" sz="18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They are often sold in sets to build specific objects.</a:t>
            </a:r>
          </a:p>
          <a:p>
            <a:pPr lvl="1"/>
            <a:r>
              <a:rPr lang="en-US" sz="18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LEGO is known to reuses pieces in a variety of sets.</a:t>
            </a:r>
            <a:endParaRPr lang="en-US" sz="1400" dirty="0">
              <a:ln w="3175">
                <a:solidFill>
                  <a:schemeClr val="tx1">
                    <a:alpha val="75000"/>
                  </a:schemeClr>
                </a:solidFill>
              </a:ln>
              <a:solidFill>
                <a:schemeClr val="bg1"/>
              </a:solidFill>
              <a:latin typeface="Amasis MT Pro Black" panose="020F0502020204030204" pitchFamily="18" charset="0"/>
            </a:endParaRPr>
          </a:p>
          <a:p>
            <a:pPr marL="0" indent="0">
              <a:buNone/>
            </a:pPr>
            <a:r>
              <a:rPr lang="en-US" sz="26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" panose="02000600000000000000" pitchFamily="2" charset="0"/>
              </a:rPr>
              <a:t>Analysis Goals: </a:t>
            </a:r>
          </a:p>
          <a:p>
            <a:pPr lvl="1"/>
            <a:r>
              <a:rPr lang="en-US" sz="19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What colors/ pieces occur the most in Lego sets?</a:t>
            </a:r>
          </a:p>
          <a:p>
            <a:pPr lvl="1"/>
            <a:r>
              <a:rPr lang="en-US" sz="18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This project aims to analyze the extent to which different LEGO sets share common parts. </a:t>
            </a:r>
          </a:p>
          <a:p>
            <a:pPr lvl="1"/>
            <a:r>
              <a:rPr lang="en-US" sz="18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We investigated whether a user could theoretically recreate or approximate new LEGO builds using only the pieces from sets they already own. </a:t>
            </a:r>
          </a:p>
          <a:p>
            <a:pPr lvl="1"/>
            <a:r>
              <a:rPr lang="en-US" sz="18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" panose="02000600000000000000" pitchFamily="2" charset="0"/>
              </a:rPr>
              <a:t>This analysis can provide insight into sustainability and creativity within LEGO building, highlighting how existing pieces can be reused to expand building possibilities.</a:t>
            </a:r>
          </a:p>
          <a:p>
            <a:endParaRPr lang="en-US" sz="1400" dirty="0">
              <a:solidFill>
                <a:schemeClr val="bg1"/>
              </a:solidFill>
              <a:latin typeface="LEGO "/>
            </a:endParaRPr>
          </a:p>
          <a:p>
            <a:pPr lvl="1"/>
            <a:endParaRPr lang="en-US" sz="1400" dirty="0">
              <a:solidFill>
                <a:schemeClr val="bg1"/>
              </a:solidFill>
              <a:latin typeface="LEGO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A060F-C1BA-556D-9FE6-999D66706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41565">
            <a:off x="2883922" y="2844513"/>
            <a:ext cx="1697820" cy="1697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9CE752-4F99-A664-3720-1FAB81124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15" y="3386228"/>
            <a:ext cx="1100590" cy="941616"/>
          </a:xfrm>
          <a:prstGeom prst="rect">
            <a:avLst/>
          </a:prstGeom>
        </p:spPr>
      </p:pic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9C9973DB-A0DF-38FA-31D3-696E08E040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843364" y="866036"/>
            <a:ext cx="2207161" cy="2207161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21484AA-0DFA-86D5-1906-6C0F738E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232" y="5697770"/>
            <a:ext cx="979697" cy="97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752C26-9A19-0F65-89D9-435323E423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997">
            <a:off x="971578" y="4594244"/>
            <a:ext cx="1541515" cy="1541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06BF67-3A09-391E-068D-512343F440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738" y="206769"/>
            <a:ext cx="6000524" cy="14942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722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256EF-0A76-8FBF-3271-1A39B5FC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E668B7-8CE9-75C8-BAFC-7EBD8B62F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3744">
            <a:off x="1171879" y="887894"/>
            <a:ext cx="1100590" cy="941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8D8D5E-49EC-8536-B898-5359BCAC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07706">
            <a:off x="7031832" y="-610420"/>
            <a:ext cx="2142380" cy="21423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6E681D-65E8-1ED5-92A9-4A71AE32F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5286">
            <a:off x="5377549" y="1448837"/>
            <a:ext cx="1346122" cy="1346122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D93C334-6FDF-F308-2111-6DA9C04C2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951" y="-469010"/>
            <a:ext cx="1547392" cy="15473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C4B751-095F-A25B-1907-C01CAD37D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683313">
            <a:off x="7126586" y="1788997"/>
            <a:ext cx="2051252" cy="13743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1A621B-D91B-86CE-BCFB-810F211F2D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83097" y="193226"/>
            <a:ext cx="2905996" cy="290599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A22B598-9E4A-A55B-B8DF-7010FDEFB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359" y="5566369"/>
            <a:ext cx="1116882" cy="111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3CDC9-C29B-50F4-72D4-A47F27B7B6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190" y="1030703"/>
            <a:ext cx="1663768" cy="1663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4A38E0-A920-2332-C14B-35DFE9AFAC03}"/>
              </a:ext>
            </a:extLst>
          </p:cNvPr>
          <p:cNvSpPr txBox="1"/>
          <p:nvPr/>
        </p:nvSpPr>
        <p:spPr>
          <a:xfrm>
            <a:off x="334945" y="2929756"/>
            <a:ext cx="4901498" cy="480131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Based on the twelve queries generated in VS Code, it is not feasible to create new sets based off preexisting LEGO sets, with or without the correct colors.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 (Avg part quantity 3) </a:t>
            </a:r>
          </a:p>
          <a:p>
            <a:pPr lvl="1"/>
            <a:endParaRPr lang="en-US" dirty="0">
              <a:ln w="3175">
                <a:solidFill>
                  <a:schemeClr val="tx1">
                    <a:alpha val="75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r>
              <a:rPr lang="en-US" dirty="0" err="1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Brickit</a:t>
            </a:r>
            <a:r>
              <a:rPr lang="en-US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 is an application used on both iOS and android devices that can scan LEGO pieces and  suggest building ideas.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Suggest small projects that are not sets created by LEGO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lvl="1"/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EGO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EGO 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D5B75-BE5A-7271-419E-AE77E437E708}"/>
              </a:ext>
            </a:extLst>
          </p:cNvPr>
          <p:cNvSpPr txBox="1"/>
          <p:nvPr/>
        </p:nvSpPr>
        <p:spPr>
          <a:xfrm>
            <a:off x="5254632" y="3429000"/>
            <a:ext cx="2166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  <a:latin typeface="LEGO "/>
              </a:rPr>
              <a:t>Top 5 colors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/>
                  </a:solidFill>
                </a:ln>
                <a:latin typeface="LEGO "/>
              </a:rPr>
              <a:t>Black</a:t>
            </a:r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  <a:latin typeface="LEGO 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  <a:latin typeface="LEGO "/>
              </a:rPr>
              <a:t>White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rgbClr val="FF0000"/>
                </a:solidFill>
                <a:latin typeface="LEGO "/>
              </a:rPr>
              <a:t>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rgbClr val="FFFF00"/>
                </a:solidFill>
                <a:latin typeface="LEGO "/>
              </a:rPr>
              <a:t>Yellow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/>
                  </a:solidFill>
                </a:ln>
                <a:solidFill>
                  <a:srgbClr val="0070C0"/>
                </a:solidFill>
                <a:latin typeface="LEGO "/>
              </a:rPr>
              <a:t>Blue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F64A0C-66E7-0665-83AA-3F573688D4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36" y="191160"/>
            <a:ext cx="8261322" cy="16458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8A1246-7DE2-75E1-E27B-FDDD8CADE4F7}"/>
              </a:ext>
            </a:extLst>
          </p:cNvPr>
          <p:cNvSpPr txBox="1"/>
          <p:nvPr/>
        </p:nvSpPr>
        <p:spPr>
          <a:xfrm>
            <a:off x="7522803" y="3429000"/>
            <a:ext cx="4334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Top 5 most common build pieces: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1x2 plate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1x2 round stud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2x4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2x2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n w="6350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1x1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763016-0FB0-EAE5-466C-E6874D5534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0343" y="3611765"/>
            <a:ext cx="816393" cy="8163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A3BCC4-680B-1598-108E-F3798EE04C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31250" y1="45125" x2="39000" y2="45125"/>
                        <a14:foregroundMark x1="33750" y1="56750" x2="33750" y2="56750"/>
                        <a14:foregroundMark x1="65000" y1="34125" x2="65000" y2="34125"/>
                        <a14:foregroundMark x1="65000" y1="46125" x2="65000" y2="46125"/>
                        <a14:foregroundMark x1="65000" y1="44625" x2="65000" y2="44625"/>
                        <a14:foregroundMark x1="45250" y1="64375" x2="19250" y2="65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66736" y="4004289"/>
            <a:ext cx="847737" cy="8477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8767F9-7860-1C17-41F6-06C959DF93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4384" b="97808" l="1119" r="96421">
                        <a14:foregroundMark x1="7606" y1="43425" x2="7606" y2="43425"/>
                        <a14:foregroundMark x1="11409" y1="62466" x2="11409" y2="62466"/>
                        <a14:foregroundMark x1="6152" y1="53836" x2="23714" y2="76438"/>
                        <a14:foregroundMark x1="23714" y1="76438" x2="31544" y2="81918"/>
                        <a14:foregroundMark x1="31544" y1="81918" x2="31767" y2="82192"/>
                        <a14:foregroundMark x1="25727" y1="91507" x2="33221" y2="93288"/>
                        <a14:foregroundMark x1="33221" y1="93288" x2="34004" y2="91781"/>
                        <a14:foregroundMark x1="1678" y1="44247" x2="1533" y2="49759"/>
                        <a14:foregroundMark x1="1583" y1="53411" x2="2349" y2="57397"/>
                        <a14:foregroundMark x1="28188" y1="96986" x2="28635" y2="98082"/>
                        <a14:foregroundMark x1="59843" y1="10137" x2="69239" y2="5205"/>
                        <a14:foregroundMark x1="69239" y1="5205" x2="76286" y2="7671"/>
                        <a14:foregroundMark x1="76286" y1="7671" x2="95414" y2="30685"/>
                        <a14:foregroundMark x1="95414" y1="30685" x2="96421" y2="45205"/>
                        <a14:foregroundMark x1="96421" y1="45205" x2="91499" y2="52877"/>
                        <a14:foregroundMark x1="75615" y1="7534" x2="68009" y2="4384"/>
                        <a14:foregroundMark x1="68009" y1="4384" x2="71029" y2="5342"/>
                        <a14:backgroundMark x1="671" y1="52055" x2="1566" y2="53425"/>
                        <a14:backgroundMark x1="1342" y1="49726" x2="1119" y2="516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54231">
            <a:off x="8945113" y="4575748"/>
            <a:ext cx="546927" cy="4465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64A779-1FD3-04DE-710F-8153C569E2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000" b="93750" l="7229" r="91050">
                        <a14:foregroundMark x1="7573" y1="22708" x2="7917" y2="56250"/>
                        <a14:foregroundMark x1="37866" y1="91458" x2="46988" y2="93750"/>
                        <a14:foregroundMark x1="46988" y1="93750" x2="48881" y2="93333"/>
                        <a14:foregroundMark x1="91394" y1="43542" x2="91222" y2="56250"/>
                        <a14:foregroundMark x1="91222" y1="56250" x2="91222" y2="56250"/>
                        <a14:foregroundMark x1="60757" y1="9167" x2="52668" y2="5000"/>
                        <a14:foregroundMark x1="52668" y1="5000" x2="45267" y2="7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7155" y="4945358"/>
            <a:ext cx="543661" cy="4491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4D8E61E-E888-C42F-D872-17C08F16E8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6820" y="5239170"/>
            <a:ext cx="550297" cy="55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7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47D5-C165-7FD9-31EC-26949B7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B0B9226-D23D-9C5F-C96B-3C23EC1F6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1414">
            <a:off x="7261512" y="-662756"/>
            <a:ext cx="2209417" cy="22094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45A5D6-BC38-8927-5B04-AD8302983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903093">
            <a:off x="5272963" y="1733324"/>
            <a:ext cx="1742723" cy="1742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B4B9D4-126D-DFB7-C6BA-2A0131727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543776">
            <a:off x="8926278" y="-245291"/>
            <a:ext cx="3514771" cy="3514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AE1C82-2C39-C500-EFB0-B863EEB43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05343">
            <a:off x="3501526" y="1254986"/>
            <a:ext cx="1289479" cy="1103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406965-C1AE-58ED-BDA8-6B7A052ED2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829795" y="3163631"/>
            <a:ext cx="1978455" cy="1325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1C612F-47D0-9CF4-FBF8-74C78887D0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02684" y="3429000"/>
            <a:ext cx="1794526" cy="1794526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8A0F4DE0-ED64-53FC-AB8B-EF8BA429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663" y="5433545"/>
            <a:ext cx="1127681" cy="112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97061-F4CD-1820-187A-E79EE9B591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1746923" y="340791"/>
            <a:ext cx="1539510" cy="1539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5902CE-B3B5-D831-85EF-4F5A23EDC36E}"/>
              </a:ext>
            </a:extLst>
          </p:cNvPr>
          <p:cNvSpPr txBox="1"/>
          <p:nvPr/>
        </p:nvSpPr>
        <p:spPr>
          <a:xfrm>
            <a:off x="104775" y="2596369"/>
            <a:ext cx="56007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Ultimately , no, you can not create entirely new builds with existing pieces . </a:t>
            </a:r>
            <a:b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</a:br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There is, however, </a:t>
            </a:r>
            <a:r>
              <a:rPr lang="en-US" sz="2000" dirty="0" err="1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Brickit</a:t>
            </a:r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 as a great alternative for cost saving and sustainability efforts. </a:t>
            </a:r>
          </a:p>
          <a:p>
            <a:pPr algn="ctr"/>
            <a:endParaRPr lang="en-US" sz="2000" dirty="0">
              <a:ln w="3175">
                <a:solidFill>
                  <a:schemeClr val="tx1">
                    <a:alpha val="75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With the research we have done, using spare pieces and  </a:t>
            </a:r>
            <a:r>
              <a:rPr lang="en-US" sz="2000" dirty="0" err="1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Brickit</a:t>
            </a:r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 in unison can create small figures (robots , animals, etc...)  without buying new pieces. </a:t>
            </a:r>
          </a:p>
          <a:p>
            <a:pPr algn="ctr"/>
            <a:endParaRPr lang="en-US" sz="2000" dirty="0">
              <a:ln w="3175">
                <a:solidFill>
                  <a:schemeClr val="tx1">
                    <a:alpha val="75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Is Lego inherently sustainable? NO </a:t>
            </a:r>
          </a:p>
          <a:p>
            <a:pPr algn="ctr"/>
            <a:endParaRPr lang="en-US" sz="2000" dirty="0">
              <a:ln w="3175">
                <a:solidFill>
                  <a:schemeClr val="tx1">
                    <a:alpha val="75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5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Can you still  make an effort to be sustainable? YES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3AE0B0-CC0E-7F92-5271-AB25DABC2A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048" y="186670"/>
            <a:ext cx="5327904" cy="14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6648B-6710-7853-F5E8-5E83F1BB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67CB7D-A6B1-6EBD-A06E-C7F543942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4255">
            <a:off x="4383271" y="1422798"/>
            <a:ext cx="1422778" cy="121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84ADF3-2675-F3C6-C1FD-361C6F86B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55348">
            <a:off x="6529127" y="2103919"/>
            <a:ext cx="1592262" cy="159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7EA220-8FFF-1C7D-9764-411ACE141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32115">
            <a:off x="9768218" y="1036887"/>
            <a:ext cx="2777925" cy="2777925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76A0C54-7E95-9C44-9293-2ED329C3C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995">
            <a:off x="8103436" y="-358279"/>
            <a:ext cx="2723738" cy="2723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2980D2-2EBE-246F-F484-7EB5D3BF1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19667" y="4117725"/>
            <a:ext cx="1773377" cy="11881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D90EDF-1C4C-E825-5C13-FB3A157270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68261" y="4737913"/>
            <a:ext cx="1488919" cy="1386114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765EC2A-6B3E-5A89-9423-D78AF22A1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0736" y="5573487"/>
            <a:ext cx="1101080" cy="110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78EC77-091E-6A8E-7E6B-9CD18E1B8328}"/>
              </a:ext>
            </a:extLst>
          </p:cNvPr>
          <p:cNvSpPr txBox="1"/>
          <p:nvPr/>
        </p:nvSpPr>
        <p:spPr>
          <a:xfrm>
            <a:off x="345688" y="2588532"/>
            <a:ext cx="6409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Source of Database:</a:t>
            </a: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https://www.kaggle.com/datasets/rtatman/lego-database?select=downloads_schema.png</a:t>
            </a:r>
            <a:endParaRPr lang="en-US" sz="2000" dirty="0">
              <a:ln w="3175">
                <a:solidFill>
                  <a:schemeClr val="tx1">
                    <a:alpha val="77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endParaRPr lang="en-US" sz="2000" dirty="0">
              <a:ln w="3175">
                <a:solidFill>
                  <a:schemeClr val="tx1">
                    <a:alpha val="77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Git Hub  Repository:</a:t>
            </a: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https://github.com/katisern/lego-database-analysis</a:t>
            </a:r>
            <a:endParaRPr lang="en-US" sz="2000" dirty="0">
              <a:ln w="3175">
                <a:solidFill>
                  <a:schemeClr val="tx1">
                    <a:alpha val="77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endParaRPr lang="en-US" sz="2000" dirty="0">
              <a:ln w="3175">
                <a:solidFill>
                  <a:schemeClr val="tx1">
                    <a:alpha val="77000"/>
                  </a:schemeClr>
                </a:solidFill>
              </a:ln>
              <a:solidFill>
                <a:schemeClr val="bg1"/>
              </a:solidFill>
              <a:latin typeface="LEGO "/>
            </a:endParaRP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AI assistance for  adding Database : </a:t>
            </a:r>
          </a:p>
          <a:p>
            <a:pPr algn="ctr"/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</a:t>
            </a:r>
            <a:r>
              <a:rPr lang="en-US" sz="2000" dirty="0">
                <a:ln w="3175">
                  <a:solidFill>
                    <a:schemeClr val="tx1">
                      <a:alpha val="77000"/>
                    </a:schemeClr>
                  </a:solidFill>
                </a:ln>
                <a:solidFill>
                  <a:schemeClr val="bg1"/>
                </a:solidFill>
                <a:latin typeface="LEGO "/>
              </a:rPr>
              <a:t> </a:t>
            </a: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  <a:p>
            <a:endParaRPr lang="en-US" dirty="0">
              <a:solidFill>
                <a:schemeClr val="bg1"/>
              </a:solidFill>
              <a:latin typeface="LEGO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AEAD3-88B9-ED97-219E-0D7F1306D0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41046">
            <a:off x="2756273" y="-35093"/>
            <a:ext cx="1361455" cy="1361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25AF3E-673D-E03D-E190-B7AA625404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544" y="220288"/>
            <a:ext cx="5115505" cy="145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53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388</Words>
  <Application>Microsoft Office PowerPoint</Application>
  <PresentationFormat>Widescreen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LEGO</vt:lpstr>
      <vt:lpstr>LEGO </vt:lpstr>
      <vt:lpstr>Aptos Display</vt:lpstr>
      <vt:lpstr>Arial</vt:lpstr>
      <vt:lpstr>Aptos</vt:lpstr>
      <vt:lpstr>Amasis MT Pro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Fabiola.Laplante001</dc:creator>
  <cp:lastModifiedBy>Mackenzi.Fletcher001</cp:lastModifiedBy>
  <cp:revision>4</cp:revision>
  <dcterms:created xsi:type="dcterms:W3CDTF">2026-04-17T00:51:50Z</dcterms:created>
  <dcterms:modified xsi:type="dcterms:W3CDTF">2026-04-22T18:06:22Z</dcterms:modified>
</cp:coreProperties>
</file>